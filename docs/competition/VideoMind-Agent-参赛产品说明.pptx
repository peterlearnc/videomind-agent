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30352"/>
            <a:ext cx="3401568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03503"/>
            <a:ext cx="34015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迅雷校园 AI 产品创造营 · 创新 AI 工具</a:t>
            </a:r>
          </a:p>
        </p:txBody>
      </p:sp>
      <p:sp>
        <p:nvSpPr>
          <p:cNvPr id="4" name="SLIDE_TITLE"/>
          <p:cNvSpPr txBox="1"/>
          <p:nvPr/>
        </p:nvSpPr>
        <p:spPr>
          <a:xfrm>
            <a:off x="685800" y="1325880"/>
            <a:ext cx="89611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3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67712"/>
            <a:ext cx="877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AI 视频理解与双语字幕智能工作台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27248"/>
            <a:ext cx="8869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让长视频从“只能播放”</a:t>
            </a:r>
            <a:br/>
            <a:r>
              <a:rPr>
                <a:latin typeface="Microsoft YaHei"/>
              </a:rPr>
              <a:t>变成“可识别、可校对、可翻译、可检索、可总结、可问答”的结构化知识载体。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22992" y="868680"/>
            <a:ext cx="1024128" cy="4160520"/>
          </a:xfrm>
          <a:prstGeom prst="rect">
            <a:avLst/>
          </a:prstGeom>
          <a:solidFill>
            <a:srgbClr val="244F3B"/>
          </a:solidFill>
          <a:ln w="12700">
            <a:solidFill>
              <a:srgbClr val="244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87584" y="1691640"/>
            <a:ext cx="694944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VIDEO</a:t>
            </a:r>
            <a:br/>
            <a:r>
              <a:rPr>
                <a:latin typeface="Microsoft YaHei"/>
              </a:rPr>
              <a:t>↓</a:t>
            </a:r>
            <a:br/>
            <a:r>
              <a:rPr>
                <a:latin typeface="Microsoft YaHei"/>
              </a:rPr>
              <a:t>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504688"/>
            <a:ext cx="90068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参赛成员：________    学校：________    专业：________</a:t>
            </a:r>
            <a:br/>
            <a:r>
              <a:rPr>
                <a:latin typeface="Microsoft YaHei"/>
              </a:rPr>
              <a:t>Demo：________________________    GitHub：________________________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视频越来越多，信息却仍被困在线性时间轴里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02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01952"/>
            <a:ext cx="331012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852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PAIN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32304"/>
            <a:ext cx="28529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定位效率低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285292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要找到一个观点，往往只能拖动进度条、反复试听。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1901952"/>
            <a:ext cx="331012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103120"/>
            <a:ext cx="2852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PAIN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432304"/>
            <a:ext cx="28529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自动字幕不够准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999232"/>
            <a:ext cx="285292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专业术语、口音与噪声会放大 ASR 错误，直接影响后续理解。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2168" y="1901952"/>
            <a:ext cx="331012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2103120"/>
            <a:ext cx="2852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PAIN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432304"/>
            <a:ext cx="285292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工具链割裂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999232"/>
            <a:ext cx="2852928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转写、校对、翻译、摘要与问答分散在不同工具，上下文难复用。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19379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用户真正需要的不是另一块播放器，而是结构化、可搜索、可复用的信息。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四类用户，共享同一个需求：更快获得可信信息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03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514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4884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学生 / 学习者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2743200"/>
            <a:ext cx="210312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8163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课程、讲座、公开课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564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49039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定位知识点慢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46227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754880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可检索字幕与摘要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874519"/>
            <a:ext cx="2514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14884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内容创作者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30168" y="2743200"/>
            <a:ext cx="210312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0168" y="28163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采访、素材、后期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4564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痛点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749039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校对与翻译耗时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446227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需求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754880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可控字幕与 SRT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874519"/>
            <a:ext cx="2514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14884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研究 / 知识工作者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73368" y="2743200"/>
            <a:ext cx="210312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28163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会议、访谈、资料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4564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痛点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3749039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长视频难复用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46227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需求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754880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结构化理解与问答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1874519"/>
            <a:ext cx="25146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16568" y="214884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跨语言视频用户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16568" y="2743200"/>
            <a:ext cx="210312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16568" y="281635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海外课程与内容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16568" y="345643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痛点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8" y="3749039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语言成为门槛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16568" y="446227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需求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16568" y="4754880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先校正、再翻译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时间戳字幕，是连接视频与 AI 理解的核心数据层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04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94760" y="2606040"/>
            <a:ext cx="914400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98079" y="2606040"/>
            <a:ext cx="914401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43000" y="210312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95728"/>
            <a:ext cx="2651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视频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847088"/>
            <a:ext cx="2788920" cy="1508760"/>
          </a:xfrm>
          <a:prstGeom prst="roundRect">
            <a:avLst/>
          </a:prstGeom>
          <a:solidFill>
            <a:srgbClr val="244F3B"/>
          </a:solidFill>
          <a:ln w="12700">
            <a:solidFill>
              <a:srgbClr val="244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212848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时间戳字幕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61488"/>
            <a:ext cx="2788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统一、可编辑、可追溯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103120"/>
            <a:ext cx="2423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95728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AI 理解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25196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526280"/>
            <a:ext cx="2286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更快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093208"/>
            <a:ext cx="228600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搜索、跳转、摘要和问答，减少重复观看。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425196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4526280"/>
            <a:ext cx="2286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更准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5093208"/>
            <a:ext cx="228600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AI 校正 + 人工确认，降低错误传播。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25196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80"/>
            <a:ext cx="22860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更可控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093208"/>
            <a:ext cx="228600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人工编辑、处理记录与 fallback 保留最终决定权。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一条连续工作流，把原始视频变成可复用知识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05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72491" y="308610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88366" y="308610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04242" y="308610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20117" y="308610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35993" y="308610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51868" y="308610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352" y="2560320"/>
            <a:ext cx="14421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3" y="2743200"/>
            <a:ext cx="1295835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视频输入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6227" y="2560320"/>
            <a:ext cx="1442139" cy="1051560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9379" y="2743200"/>
            <a:ext cx="1295835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Whisper</a:t>
            </a:r>
            <a:br/>
            <a:r>
              <a:rPr>
                <a:latin typeface="Microsoft YaHei"/>
              </a:rPr>
              <a:t>语音识别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62102" y="2560320"/>
            <a:ext cx="14421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5254" y="2743200"/>
            <a:ext cx="1295835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Transcript</a:t>
            </a:r>
            <a:br/>
            <a:r>
              <a:rPr>
                <a:latin typeface="Microsoft YaHei"/>
              </a:rPr>
              <a:t>Correction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77978" y="2560320"/>
            <a:ext cx="1442139" cy="1051560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1130" y="2743200"/>
            <a:ext cx="1295835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人工字幕</a:t>
            </a:r>
            <a:br/>
            <a:r>
              <a:rPr>
                <a:latin typeface="Microsoft YaHei"/>
              </a:rPr>
              <a:t>编辑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3853" y="2560320"/>
            <a:ext cx="14421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7005" y="2743200"/>
            <a:ext cx="1295835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双语字幕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09729" y="2560320"/>
            <a:ext cx="1442139" cy="1051560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2881" y="2743200"/>
            <a:ext cx="1295835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AI 视频</a:t>
            </a:r>
            <a:br/>
            <a:r>
              <a:rPr>
                <a:latin typeface="Microsoft YaHei"/>
              </a:rPr>
              <a:t>摘要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25604" y="2560320"/>
            <a:ext cx="14421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98756" y="2743200"/>
            <a:ext cx="1295835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视频问答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04164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识别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0416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校正与控制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04164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理解与复用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784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同一份结构化字幕贯穿全流程，避免在多个工具间重复导入与丢失上下文。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三层架构，让交互、字幕质量与 AI 理解各司其职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06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9904" y="2852928"/>
            <a:ext cx="0" cy="347472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371600" y="1828800"/>
            <a:ext cx="94457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139696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交互层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7328" y="2157984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视频播放  ·  倍速控制  ·  时间戳跳转  ·  播放同步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9904" y="4224528"/>
            <a:ext cx="0" cy="347472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71600" y="3200400"/>
            <a:ext cx="9445752" cy="1024128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511296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字幕层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3529584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Whisper 转写  ·  AI 字幕校正  ·  人工编辑  ·  双语字幕  ·  SRT 导出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572000"/>
            <a:ext cx="9445752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4882896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AI 理解层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4901184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视频摘要  ·  视频问答  ·  内容结构化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严格校验与可恢复机制，提高 TranscriptCorrection 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07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72491" y="244602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88366" y="244602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204242" y="244602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20117" y="244602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35993" y="244602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51868" y="2446020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352" y="1965960"/>
            <a:ext cx="14421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3" y="2148840"/>
            <a:ext cx="12958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Whisper</a:t>
            </a:r>
            <a:br/>
            <a:r>
              <a:rPr>
                <a:latin typeface="Microsoft YaHei"/>
              </a:rPr>
              <a:t>原始字幕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6227" y="1965960"/>
            <a:ext cx="1442139" cy="960120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9379" y="2148840"/>
            <a:ext cx="12958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字幕</a:t>
            </a:r>
            <a:br/>
            <a:r>
              <a:rPr>
                <a:latin typeface="Microsoft YaHei"/>
              </a:rPr>
              <a:t>批处理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62102" y="1965960"/>
            <a:ext cx="14421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5254" y="2148840"/>
            <a:ext cx="12958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LLM</a:t>
            </a:r>
            <a:br/>
            <a:r>
              <a:rPr>
                <a:latin typeface="Microsoft YaHei"/>
              </a:rPr>
              <a:t>Correction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77978" y="1965960"/>
            <a:ext cx="1442139" cy="960120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1130" y="2148840"/>
            <a:ext cx="12958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JSON</a:t>
            </a:r>
            <a:br/>
            <a:r>
              <a:rPr>
                <a:latin typeface="Microsoft YaHei"/>
              </a:rPr>
              <a:t>校验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3853" y="1965960"/>
            <a:ext cx="14421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7005" y="2148840"/>
            <a:ext cx="12958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自动</a:t>
            </a:r>
            <a:br/>
            <a:r>
              <a:rPr>
                <a:latin typeface="Microsoft YaHei"/>
              </a:rPr>
              <a:t>Retry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09729" y="1965960"/>
            <a:ext cx="1442139" cy="960120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2881" y="2148840"/>
            <a:ext cx="12958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Fallback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25604" y="1965960"/>
            <a:ext cx="1442139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98756" y="2148840"/>
            <a:ext cx="12958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最终字幕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730752"/>
            <a:ext cx="28803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80390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JSON 容错解析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3730752"/>
            <a:ext cx="28803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380390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invalid output 自动重试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17536" y="3730752"/>
            <a:ext cx="28803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380390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失败批次 fallback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15184" y="4599432"/>
            <a:ext cx="28803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15184" y="467258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retry / fallback metadata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16752" y="4599432"/>
            <a:ext cx="2880360" cy="356616"/>
          </a:xfrm>
          <a:prstGeom prst="roundRect">
            <a:avLst/>
          </a:prstGeom>
          <a:solidFill>
            <a:srgbClr val="244F3B"/>
          </a:solidFill>
          <a:ln w="12700">
            <a:solidFill>
              <a:srgbClr val="244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16752" y="4672584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Whisper 时间戳保护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59612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安全约束：不新增 cue、不丢失 cue、不猜测 ID；start / end 始终沿用 Whisper 原始时间轴。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Human-in-the-loop：AI 提效，人对最终质量负责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08 / 15</a:t>
            </a:r>
          </a:p>
        </p:txBody>
      </p:sp>
      <p:sp>
        <p:nvSpPr>
          <p:cNvPr id="6" name="SCREENSHOT_PLACEHOLDER_P8"/>
          <p:cNvSpPr/>
          <p:nvPr/>
        </p:nvSpPr>
        <p:spPr>
          <a:xfrm>
            <a:off x="4956048" y="1783080"/>
            <a:ext cx="6583680" cy="4160520"/>
          </a:xfrm>
          <a:prstGeom prst="rect">
            <a:avLst/>
          </a:prstGeom>
          <a:solidFill>
            <a:srgbClr val="E4EBE2"/>
          </a:solidFill>
          <a:ln w="19050">
            <a:solidFill>
              <a:srgbClr val="7B9B6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4648" y="336042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【替换为 SubtitleEditor 实际截图】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4648" y="4183379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在 PowerPoint / WPS 中删除此框并插入实际截图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017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编辑闭环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✓  时间戳定位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4495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✓  AI 校正结果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75304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✓  人工修改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05656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✓  单条 / 批量保存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36008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✓  处理记录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✓  SRT 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AI baseline、已保存编辑、未保存草稿三层状态清晰分离。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同一个媒体时钟，驱动播放器字幕与编辑器高亮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09 / 15</a:t>
            </a:r>
          </a:p>
        </p:txBody>
      </p:sp>
      <p:sp>
        <p:nvSpPr>
          <p:cNvPr id="6" name="SCREENSHOT_PLACEHOLDER_P9"/>
          <p:cNvSpPr/>
          <p:nvPr/>
        </p:nvSpPr>
        <p:spPr>
          <a:xfrm>
            <a:off x="7498079" y="1783080"/>
            <a:ext cx="4041648" cy="4160520"/>
          </a:xfrm>
          <a:prstGeom prst="rect">
            <a:avLst/>
          </a:prstGeom>
          <a:solidFill>
            <a:srgbClr val="E4EBE2"/>
          </a:solidFill>
          <a:ln w="19050">
            <a:solidFill>
              <a:srgbClr val="7B9B6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3360420"/>
            <a:ext cx="358444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【替换为播放器 + SubtitleEditor 同步截图】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4183379"/>
            <a:ext cx="3584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在 PowerPoint / WPS 中删除此框并插入实际截图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6126480" cy="3401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30552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requestAnimationFrame 播放时钟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880360"/>
            <a:ext cx="1965960" cy="594360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06324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video.currentTime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3182112"/>
            <a:ext cx="822960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0" y="2880360"/>
            <a:ext cx="1965960" cy="594360"/>
          </a:xfrm>
          <a:prstGeom prst="roundRect">
            <a:avLst/>
          </a:prstGeom>
          <a:solidFill>
            <a:srgbClr val="244F3B"/>
          </a:solidFill>
          <a:ln w="12700">
            <a:solidFill>
              <a:srgbClr val="244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306324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findActiveCueId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950208" y="3474720"/>
            <a:ext cx="1152144" cy="68580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02352" y="3474720"/>
            <a:ext cx="749808" cy="68580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52928" y="4224528"/>
            <a:ext cx="17373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429768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SubtitleTrack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224528"/>
            <a:ext cx="17373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429768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SubtitleEditor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623560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seek 即时同步  ·  active cue 实时更新  ·  自动滚动与高亮解耦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高亮实时变化，滚动始终尊重人工操作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4406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12848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自动跟随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4434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当前 cue 定位到编辑区域约 30% 高度：</a:t>
            </a:r>
            <a:br/>
            <a:r>
              <a:rPr>
                <a:latin typeface="Microsoft YaHei"/>
              </a:rPr>
              <a:t>上方保留已播放内容，下方展示更多即将播放字幕。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1872" y="4023360"/>
            <a:ext cx="4114800" cy="1097280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4160520"/>
            <a:ext cx="3611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上一条</a:t>
            </a:r>
            <a:br/>
            <a:r>
              <a:rPr>
                <a:latin typeface="Microsoft YaHei"/>
              </a:rPr>
              <a:t>▶ 当前播放字幕</a:t>
            </a:r>
            <a:br/>
            <a:r>
              <a:rPr>
                <a:latin typeface="Microsoft YaHei"/>
              </a:rPr>
              <a:t>下一条 · 下一条 · 下一条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011680"/>
            <a:ext cx="4023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以下操作优先于自动跟随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788920"/>
            <a:ext cx="35661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862072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滚动字幕列表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447287"/>
            <a:ext cx="35661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520439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拖动页面滚动条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105656"/>
            <a:ext cx="35661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178808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搜索字幕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4764024"/>
            <a:ext cx="356616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837176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编辑 textarea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596128"/>
            <a:ext cx="3703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停止人工操作约 2 秒后恢复跟随；</a:t>
            </a:r>
            <a:br/>
            <a:r>
              <a:rPr>
                <a:latin typeface="Microsoft YaHei"/>
              </a:rPr>
              <a:t>暂停滚动不影响 active cue 实时高亮。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先校正，再翻译，避免错误从原文传播到译文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11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45259" y="2359152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178454" y="2359152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11649" y="2359152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44844" y="2359152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1938528"/>
            <a:ext cx="1159459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21408"/>
            <a:ext cx="1013155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原始字幕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8995" y="1938528"/>
            <a:ext cx="1159459" cy="841248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2147" y="2121408"/>
            <a:ext cx="1013155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AI 校正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2190" y="1938528"/>
            <a:ext cx="1159459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5342" y="2121408"/>
            <a:ext cx="1013155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AI 翻译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5385" y="1938528"/>
            <a:ext cx="1159459" cy="841248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537" y="2121408"/>
            <a:ext cx="1013155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复用时间戳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8580" y="1938528"/>
            <a:ext cx="1159459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1732" y="2121408"/>
            <a:ext cx="1013155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双语字幕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20440"/>
            <a:ext cx="598932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时间轴只维护一份，原文与译文共享 cue 边界。</a:t>
            </a:r>
            <a:br/>
            <a:r>
              <a:rPr>
                <a:latin typeface="Microsoft YaHei"/>
              </a:rPr>
              <a:t>人工编辑后的 effective text 继续用于导出、摘要与问答。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1371600" cy="356616"/>
          </a:xfrm>
          <a:prstGeom prst="roundRect">
            <a:avLst/>
          </a:prstGeom>
          <a:solidFill>
            <a:srgbClr val="244F3B"/>
          </a:solidFill>
          <a:ln w="12700">
            <a:solidFill>
              <a:srgbClr val="244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651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SOURCE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04288" y="4892040"/>
            <a:ext cx="182880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04288" y="496519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TRANSLATION</a:t>
            </a:r>
          </a:p>
        </p:txBody>
      </p:sp>
      <p:sp>
        <p:nvSpPr>
          <p:cNvPr id="25" name="SCREENSHOT_PLACEHOLDER_P11"/>
          <p:cNvSpPr/>
          <p:nvPr/>
        </p:nvSpPr>
        <p:spPr>
          <a:xfrm>
            <a:off x="7635240" y="1783080"/>
            <a:ext cx="3904487" cy="4160520"/>
          </a:xfrm>
          <a:prstGeom prst="rect">
            <a:avLst/>
          </a:prstGeom>
          <a:solidFill>
            <a:srgbClr val="E4EBE2"/>
          </a:solidFill>
          <a:ln w="19050">
            <a:solidFill>
              <a:srgbClr val="7B9B6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3360420"/>
            <a:ext cx="344728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【替换为双语字幕播放器截图】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183379"/>
            <a:ext cx="34472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在 PowerPoint / WPS 中删除此框并插入实际截图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从“按时间找信息”，升级为“按问题找信息”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AI 视频摘要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4389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提炼主题、关键结论与内容章节，</a:t>
            </a:r>
            <a:br/>
            <a:r>
              <a:rPr>
                <a:latin typeface="Microsoft YaHei"/>
              </a:rPr>
              <a:t>帮助用户先理解全貌，再决定观看位置。</a:t>
            </a:r>
          </a:p>
        </p:txBody>
      </p:sp>
      <p:sp>
        <p:nvSpPr>
          <p:cNvPr id="9" name="SCREENSHOT_PLACEHOLDER_P12"/>
          <p:cNvSpPr/>
          <p:nvPr/>
        </p:nvSpPr>
        <p:spPr>
          <a:xfrm>
            <a:off x="1005840" y="3749039"/>
            <a:ext cx="4572000" cy="1572768"/>
          </a:xfrm>
          <a:prstGeom prst="rect">
            <a:avLst/>
          </a:prstGeom>
          <a:solidFill>
            <a:srgbClr val="E4EBE2"/>
          </a:solidFill>
          <a:ln w="19050">
            <a:solidFill>
              <a:srgbClr val="7B9B6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032504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【替换为 Summary 实际截图】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85546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在 PowerPoint / WPS 中删除此框并插入实际截图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783080"/>
            <a:ext cx="52120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12140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AI 视频问答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2743200"/>
            <a:ext cx="43891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直接围绕视频内容提出问题，</a:t>
            </a:r>
            <a:br/>
            <a:r>
              <a:rPr>
                <a:latin typeface="Microsoft YaHei"/>
              </a:rPr>
              <a:t>新问题使用最新人工字幕作为上下文。</a:t>
            </a:r>
          </a:p>
        </p:txBody>
      </p:sp>
      <p:sp>
        <p:nvSpPr>
          <p:cNvPr id="15" name="SCREENSHOT_PLACEHOLDER_P12"/>
          <p:cNvSpPr/>
          <p:nvPr/>
        </p:nvSpPr>
        <p:spPr>
          <a:xfrm>
            <a:off x="6611112" y="3749039"/>
            <a:ext cx="4572000" cy="1572768"/>
          </a:xfrm>
          <a:prstGeom prst="rect">
            <a:avLst/>
          </a:prstGeom>
          <a:solidFill>
            <a:srgbClr val="E4EBE2"/>
          </a:solidFill>
          <a:ln w="19050">
            <a:solidFill>
              <a:srgbClr val="7B9B6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4032504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【替换为 Q&amp;A 实际截图】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485546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在 PowerPoint / WPS 中删除此框并插入实际截图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AI 原生能力建立在结构化字幕与严格工程约束之上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13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08452" y="2505456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04841" y="2505456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101230" y="2505456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297619" y="2505456"/>
            <a:ext cx="173736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2011680"/>
            <a:ext cx="202265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194560"/>
            <a:ext cx="1876348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Video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2188" y="2011680"/>
            <a:ext cx="2022652" cy="987552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5340" y="2194560"/>
            <a:ext cx="1876348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Whisper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8577" y="2011680"/>
            <a:ext cx="202265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1729" y="2194560"/>
            <a:ext cx="1876348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Structured</a:t>
            </a:r>
            <a:br/>
            <a:r>
              <a:rPr>
                <a:latin typeface="Microsoft YaHei"/>
              </a:rPr>
              <a:t>Subtitle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4966" y="2011680"/>
            <a:ext cx="2022652" cy="987552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8118" y="2194560"/>
            <a:ext cx="1876348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1355" y="2011680"/>
            <a:ext cx="202265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4507" y="2194560"/>
            <a:ext cx="1876348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Correction / Translation / Summary / QA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950208"/>
            <a:ext cx="301752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2336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Whisper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950208"/>
            <a:ext cx="301752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02336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LLM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950208"/>
            <a:ext cx="301752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402336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结构化字幕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773168"/>
            <a:ext cx="3017520" cy="356616"/>
          </a:xfrm>
          <a:prstGeom prst="roundRect">
            <a:avLst/>
          </a:prstGeom>
          <a:solidFill>
            <a:srgbClr val="244F3B"/>
          </a:solidFill>
          <a:ln w="12700">
            <a:solidFill>
              <a:srgbClr val="244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463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Human-in-the-loop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4773168"/>
            <a:ext cx="301752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8463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时间轴同步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773168"/>
            <a:ext cx="3017520" cy="356616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E4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4846320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JSON 容错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74243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当前架构围绕本地视频、Whisper、结构化字幕文件与 LLM API 展开。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核心链路已可运行，商业化仍属于下一阶段规划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4406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03120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当前完成情况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61488"/>
            <a:ext cx="4343400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✓ 视频播放     ✓ 字幕生成</a:t>
            </a:r>
            <a:br/>
            <a:r>
              <a:rPr>
                <a:latin typeface="Microsoft YaHei"/>
              </a:rPr>
              <a:t>✓ AI 校正      ✓ 字幕编辑</a:t>
            </a:r>
            <a:br/>
            <a:r>
              <a:rPr>
                <a:latin typeface="Microsoft YaHei"/>
              </a:rPr>
              <a:t>✓ 双语字幕     ✓ AI 摘要</a:t>
            </a:r>
            <a:br/>
            <a:r>
              <a:rPr>
                <a:latin typeface="Microsoft YaHei"/>
              </a:rPr>
              <a:t>✓ 视频问答     ✓ SRT 导出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1655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38912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89 passed · 27 subtests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46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81888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41 passed · 0 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27608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5248656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Vite build passed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783080"/>
            <a:ext cx="4965192" cy="4206240"/>
          </a:xfrm>
          <a:prstGeom prst="roundRect">
            <a:avLst/>
          </a:prstGeom>
          <a:solidFill>
            <a:srgbClr val="E4EBE2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2103120"/>
            <a:ext cx="4251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商业化方向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2788920"/>
            <a:ext cx="1280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3063239"/>
            <a:ext cx="82295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个人版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3630168"/>
            <a:ext cx="82295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学习、创作与个人知识整理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788920"/>
            <a:ext cx="1280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3063239"/>
            <a:ext cx="82295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专业版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630168"/>
            <a:ext cx="82295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高频字幕与跨语言工作流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57232" y="2788920"/>
            <a:ext cx="1280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3063239"/>
            <a:ext cx="82295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团队 /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5832" y="3630168"/>
            <a:ext cx="822959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协作、批处理与能力集成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5303520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以上为未来规划，并非当前已上线收费能力。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3" name="SLIDE_TITLE"/>
          <p:cNvSpPr txBox="1"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从稳定可用，走向视频知识化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621792" cy="50292"/>
          </a:xfrm>
          <a:prstGeom prst="rect">
            <a:avLst/>
          </a:prstGeom>
          <a:solidFill>
            <a:srgbClr val="7B9B6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16768" y="6345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15 / 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9080" y="2679192"/>
            <a:ext cx="301752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99832" y="2679192"/>
            <a:ext cx="301751" cy="0"/>
          </a:xfrm>
          <a:prstGeom prst="line">
            <a:avLst/>
          </a:prstGeom>
          <a:ln w="25400">
            <a:solidFill>
              <a:srgbClr val="7B9B68"/>
            </a:solidFill>
            <a:tailEnd type="none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1828800"/>
            <a:ext cx="3429000" cy="1783080"/>
          </a:xfrm>
          <a:prstGeom prst="roundRect">
            <a:avLst/>
          </a:prstGeom>
          <a:solidFill>
            <a:srgbClr val="244F3B"/>
          </a:solidFill>
          <a:ln w="12700">
            <a:solidFill>
              <a:srgbClr val="244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084831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阶段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68880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稳定可用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97180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rPr>
                <a:latin typeface="Microsoft YaHei"/>
              </a:rPr>
              <a:t>字幕、编辑、同步、导出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82880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4" y="2084831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阶段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468880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理解增强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97180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摘要定位、问答证据、术语词表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82880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5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2084831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3D6B53"/>
                </a:solidFill>
                <a:latin typeface="Microsoft YaHei"/>
              </a:defRPr>
            </a:pPr>
            <a:r>
              <a:rPr>
                <a:latin typeface="Microsoft YaHei"/>
              </a:rPr>
              <a:t>阶段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468880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视频知识化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97180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多语言、多视频检索、知识库、协作与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51960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44F3B"/>
                </a:solidFill>
                <a:latin typeface="Microsoft YaHei"/>
              </a:defRPr>
            </a:pPr>
            <a:r>
              <a:rPr>
                <a:latin typeface="Microsoft YaHei"/>
              </a:rPr>
              <a:t>VideoMind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6949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20251F"/>
                </a:solidFill>
                <a:latin typeface="Microsoft YaHei"/>
              </a:defRPr>
            </a:pPr>
            <a:r>
              <a:rPr>
                <a:latin typeface="Microsoft YaHei"/>
              </a:rPr>
              <a:t>让 AI 不只是“看见视频”，</a:t>
            </a:r>
            <a:br/>
            <a:r>
              <a:rPr>
                <a:latin typeface="Microsoft YaHei"/>
              </a:rPr>
              <a:t>而是真正理解、整理和复用视频中的知识。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66344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6C746D"/>
                </a:solidFill>
                <a:latin typeface="Microsoft YaHei"/>
              </a:defRPr>
            </a:pPr>
            <a:r>
              <a:rPr>
                <a:latin typeface="Microsoft YaHei"/>
              </a:rPr>
              <a:t>Demo：________________    GitHub：________________</a:t>
            </a:r>
            <a:br/>
            <a:r>
              <a:rPr>
                <a:latin typeface="Microsoft YaHei"/>
              </a:rPr>
              <a:t>团队：________________    联系方式：________________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